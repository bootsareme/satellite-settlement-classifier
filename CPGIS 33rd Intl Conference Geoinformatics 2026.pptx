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7" r:id="rId1"/>
  </p:sldMasterIdLst>
  <p:notesMasterIdLst>
    <p:notesMasterId r:id="rId24"/>
  </p:notesMasterIdLst>
  <p:sldIdLst>
    <p:sldId id="262" r:id="rId2"/>
    <p:sldId id="266" r:id="rId3"/>
    <p:sldId id="267" r:id="rId4"/>
    <p:sldId id="268" r:id="rId5"/>
    <p:sldId id="269" r:id="rId6"/>
    <p:sldId id="271" r:id="rId7"/>
    <p:sldId id="272" r:id="rId8"/>
    <p:sldId id="273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8" r:id="rId22"/>
    <p:sldId id="28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68D"/>
    <a:srgbClr val="1D1C68"/>
    <a:srgbClr val="EBEBEB"/>
    <a:srgbClr val="3332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30" autoAdjust="0"/>
    <p:restoredTop sz="94660"/>
  </p:normalViewPr>
  <p:slideViewPr>
    <p:cSldViewPr snapToGrid="0">
      <p:cViewPr varScale="1">
        <p:scale>
          <a:sx n="95" d="100"/>
          <a:sy n="95" d="100"/>
        </p:scale>
        <p:origin x="36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F3D37-3496-A44A-8343-ED72889932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22501C-6AED-394F-A971-A892DC8FF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9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718AE611-130E-0D2E-E802-8A36716DB9FC}"/>
              </a:ext>
            </a:extLst>
          </p:cNvPr>
          <p:cNvSpPr txBox="1">
            <a:spLocks/>
          </p:cNvSpPr>
          <p:nvPr/>
        </p:nvSpPr>
        <p:spPr>
          <a:xfrm>
            <a:off x="1523999" y="3556001"/>
            <a:ext cx="9144000" cy="57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64CE541A-6BE9-11BD-EA23-8EFFEB67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11" y="779558"/>
            <a:ext cx="10903974" cy="1563935"/>
          </a:xfrm>
          <a:prstGeom prst="roundRect">
            <a:avLst/>
          </a:prstGeom>
          <a:solidFill>
            <a:schemeClr val="accent1"/>
          </a:solidFill>
          <a:effectLst>
            <a:outerShdw blurRad="152400" dist="177800" dir="2700000" algn="tl" rotWithShape="0">
              <a:prstClr val="black">
                <a:alpha val="28000"/>
              </a:prstClr>
            </a:outerShdw>
          </a:effectLst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B9EEEA-4E55-EBA2-FD56-C7F246D4D4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1211" y="2875826"/>
            <a:ext cx="8029575" cy="88843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Your name here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7712E16-869E-C669-4D08-61CB38A95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81211" y="4016919"/>
            <a:ext cx="8029574" cy="11623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Your Institution here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F3E5E026-FF93-380A-0369-EE921FD448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81211" y="5446367"/>
            <a:ext cx="8029574" cy="80724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C46A339-0CEF-4204-070F-6F207DD8DA16}"/>
              </a:ext>
            </a:extLst>
          </p:cNvPr>
          <p:cNvSpPr txBox="1">
            <a:spLocks/>
          </p:cNvSpPr>
          <p:nvPr userDrawn="1"/>
        </p:nvSpPr>
        <p:spPr>
          <a:xfrm>
            <a:off x="1523999" y="3556001"/>
            <a:ext cx="9144000" cy="57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21914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CAB9-FDBF-45A0-942B-6CD2D296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942EA-E749-4D6C-901E-AB3CC35FD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7A8DE-4E81-1B9E-C59A-4EAF8473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4BAF-1559-C14F-9D4F-328F6206CD82}" type="datetime4">
              <a:rPr lang="en-US" smtClean="0"/>
              <a:t>July 21,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5A65D-E5D6-D9D8-F2F3-15F0106E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1DBC31-C26C-5121-C688-D671E483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2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0D2D-11F9-48E3-BDFD-009EB9BB2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A0E9E-29C7-4254-9EF1-22FC64B56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693F-2B5D-47A4-9937-F8D0829FE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F39FA0-3E19-D526-8868-D57F6306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48C99-19A0-7840-AEE5-660ED0FD4BD4}" type="datetime4">
              <a:rPr lang="en-US" smtClean="0"/>
              <a:t>July 21, 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9DBD2E6-2332-1BF3-4E35-20FC2A3C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B3F3F2-4DBF-CF34-23EC-A86421F03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9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740E5-4C34-4241-9607-30A57A5EF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0920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3C258-E6CF-4250-9ADE-3CCF91421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3311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3D0E3-F2B3-4828-9FE8-79E35EBAD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0920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FC978-7416-4BEC-A3E2-5F84F4560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3311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EAA7D5A-E2C3-8158-2C65-6FCE700A0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2743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46AA4AE-5CBB-E3C2-7214-7D2F7572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C1BE-E9A7-5149-938F-8AC72CA20F58}" type="datetime4">
              <a:rPr lang="en-US" smtClean="0"/>
              <a:t>July 21,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51305C1-B853-FF86-C7D1-E0E9B71E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7D36C77-B794-D188-CDB9-829834A7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12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6189-0E78-45C1-8704-51B6FC39F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217D2-E09D-B61B-12D8-0D0B70BC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91420-0630-9649-B3ED-E8C37B93454A}" type="datetime4">
              <a:rPr lang="en-US" smtClean="0"/>
              <a:t>July 21,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EB204-6B38-8446-1F52-AB40F5CB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69B5B3-B203-68F0-BC8C-939AE8DA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16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BA2CA-43B7-CFEB-A82E-80508607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2ECB1-3895-4A4C-B4FA-05A9A99CBE2F}" type="datetime4">
              <a:rPr lang="en-US" smtClean="0"/>
              <a:t>July 21,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D12E6-52D2-70A6-FF8A-7D322690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264E2-CD46-217A-CB3F-C1B24128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0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718AE611-130E-0D2E-E802-8A36716DB9FC}"/>
              </a:ext>
            </a:extLst>
          </p:cNvPr>
          <p:cNvSpPr txBox="1">
            <a:spLocks/>
          </p:cNvSpPr>
          <p:nvPr userDrawn="1"/>
        </p:nvSpPr>
        <p:spPr>
          <a:xfrm>
            <a:off x="1523999" y="3556001"/>
            <a:ext cx="9144000" cy="57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64CE541A-6BE9-11BD-EA23-8EFFEB67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11" y="779558"/>
            <a:ext cx="10903974" cy="1563935"/>
          </a:xfrm>
          <a:prstGeom prst="roundRect">
            <a:avLst/>
          </a:prstGeom>
          <a:solidFill>
            <a:schemeClr val="accent1"/>
          </a:solidFill>
          <a:effectLst>
            <a:outerShdw blurRad="152400" dist="177800" dir="2700000" algn="tl" rotWithShape="0">
              <a:prstClr val="black">
                <a:alpha val="28000"/>
              </a:prstClr>
            </a:outerShdw>
          </a:effectLst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B9EEEA-4E55-EBA2-FD56-C7F246D4D4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1211" y="2875826"/>
            <a:ext cx="8029575" cy="88843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Your name here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7712E16-869E-C669-4D08-61CB38A95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81211" y="4016919"/>
            <a:ext cx="8029574" cy="11623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Your Institution here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F3E5E026-FF93-380A-0369-EE921FD448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81211" y="5446367"/>
            <a:ext cx="8029574" cy="80724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277768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740E5-4C34-4241-9607-30A57A5EF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3C258-E6CF-4250-9ADE-3CCF91421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3D0E3-F2B3-4828-9FE8-79E35EBAD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FC978-7416-4BEC-A3E2-5F84F4560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EAA7D5A-E2C3-8158-2C65-6FCE700A0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2743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46AA4AE-5CBB-E3C2-7214-7D2F7572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C1BE-E9A7-5149-938F-8AC72CA20F58}" type="datetime4">
              <a:rPr lang="en-US" smtClean="0"/>
              <a:t>July 21,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51305C1-B853-FF86-C7D1-E0E9B71E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7D36C77-B794-D188-CDB9-829834A7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8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6189-0E78-45C1-8704-51B6FC39F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217D2-E09D-B61B-12D8-0D0B70BC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91420-0630-9649-B3ED-E8C37B93454A}" type="datetime4">
              <a:rPr lang="en-US" smtClean="0"/>
              <a:t>July 21,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EB204-6B38-8446-1F52-AB40F5CB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69B5B3-B203-68F0-BC8C-939AE8DA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1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4286-880B-57FC-DB81-FFF3401C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675FE2-4B4A-D8D3-B2FA-EB014F9C6D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77FF6-35FE-31D5-39BB-AE226A2B778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BB3C307-B990-AD4B-B50D-7E99B8F062FC}" type="datetime4">
              <a:rPr lang="en-US" smtClean="0"/>
              <a:t>July 21,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6B267-E163-B80C-46EF-94954F74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2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BA2CA-43B7-CFEB-A82E-80508607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2ECB1-3895-4A4C-B4FA-05A9A99CBE2F}" type="datetime4">
              <a:rPr lang="en-US" smtClean="0"/>
              <a:t>July 21,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D12E6-52D2-70A6-FF8A-7D322690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264E2-CD46-217A-CB3F-C1B24128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6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2B08E9-BC93-4F3C-8000-6931DF2B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2743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A7735-0958-4F79-9D87-67DA22BCF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8294" y="1519311"/>
            <a:ext cx="10045505" cy="2863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This is the first</a:t>
            </a:r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C9FBB-1B4B-432A-8E9F-8BBCFF5C4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68457"/>
            <a:ext cx="6096000" cy="28954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F1E52-7DB8-F263-DB4E-89CD576E4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568457"/>
            <a:ext cx="2743200" cy="28954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fld id="{4410D096-1298-A54A-A367-F4F59EBF1F81}" type="datetime4">
              <a:rPr lang="en-US" smtClean="0"/>
              <a:t>July 21, 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7ED53F-A44E-D7C1-8A87-59E183446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568457"/>
            <a:ext cx="3352800" cy="28954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B20306-4F53-CDAC-E5E3-EB005DBEEC1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925" y="6331058"/>
            <a:ext cx="3946453" cy="21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10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49" r:id="rId7"/>
    <p:sldLayoutId id="2147483653" r:id="rId8"/>
    <p:sldLayoutId id="2147483654" r:id="rId9"/>
    <p:sldLayoutId id="2147483656" r:id="rId10"/>
    <p:sldLayoutId id="214748365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  <a:lvl2pPr marL="685800" indent="-228600" algn="just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maps.app.goo.gl/bt2JWSW8afXVU9fX7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maps.app.goo.gl/wnEjTqggmo27DeJr5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maps.app.goo.gl/ZJA3veYzmqNFn3Vs7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maps.app.goo.gl/pisL3rcDGvqDbPZm8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maps.app.goo.gl/wA58TmNsWdNdjtct9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maps.app.goo.gl/akkkrvEkJTL13TVT9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4AEBA-27BF-32B8-2A68-AEE6E6BA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D9C1E-AC98-1E97-465D-E8D6CB3B44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81211" y="2610641"/>
            <a:ext cx="8029575" cy="888432"/>
          </a:xfrm>
        </p:spPr>
        <p:txBody>
          <a:bodyPr/>
          <a:lstStyle/>
          <a:p>
            <a:r>
              <a:rPr lang="en-US" dirty="0"/>
              <a:t>Vincent Zhang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631B3-FD18-6622-BA3C-4643C79197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81211" y="3313780"/>
            <a:ext cx="8029574" cy="2204704"/>
          </a:xfrm>
        </p:spPr>
        <p:txBody>
          <a:bodyPr>
            <a:normAutofit/>
          </a:bodyPr>
          <a:lstStyle/>
          <a:p>
            <a:r>
              <a:rPr lang="en-US" dirty="0"/>
              <a:t>33</a:t>
            </a:r>
            <a:r>
              <a:rPr lang="en-US" baseline="30000" dirty="0"/>
              <a:t>rd</a:t>
            </a:r>
            <a:r>
              <a:rPr lang="en-US" dirty="0"/>
              <a:t> International Conference on Geoinformatics</a:t>
            </a:r>
          </a:p>
          <a:p>
            <a:r>
              <a:rPr lang="en-US" dirty="0"/>
              <a:t>University of Virginia — School of Data Science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925F9-9EE8-5850-F5ED-093A156963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81210" y="5818000"/>
            <a:ext cx="8029574" cy="807245"/>
          </a:xfrm>
        </p:spPr>
        <p:txBody>
          <a:bodyPr/>
          <a:lstStyle/>
          <a:p>
            <a:r>
              <a:rPr lang="en-US" dirty="0"/>
              <a:t>July 21,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92570E-046F-1001-47E6-53E86F657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6" y="4556689"/>
            <a:ext cx="1911272" cy="1261311"/>
          </a:xfrm>
          <a:prstGeom prst="rect">
            <a:avLst/>
          </a:prstGeom>
        </p:spPr>
      </p:pic>
      <p:pic>
        <p:nvPicPr>
          <p:cNvPr id="8" name="Picture 7" descr="CPGIS (@cpgis_media) / Posts / X">
            <a:extLst>
              <a:ext uri="{FF2B5EF4-FFF2-40B4-BE49-F238E27FC236}">
                <a16:creationId xmlns:a16="http://schemas.microsoft.com/office/drawing/2014/main" id="{FB7D88F7-B94E-D5F2-A887-539745B14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81" y="4202212"/>
            <a:ext cx="1748589" cy="174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9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2"/>
    </mc:Choice>
    <mc:Fallback xmlns="">
      <p:transition spd="slow" advTm="593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07E3A-0272-A254-CFFE-F67596BF8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64B7-434F-73E5-A075-98923AAD2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DB8F6-773F-F707-747B-FE2AB5AC8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247" y="1238421"/>
            <a:ext cx="10045505" cy="4722432"/>
          </a:xfrm>
        </p:spPr>
        <p:txBody>
          <a:bodyPr>
            <a:normAutofit/>
          </a:bodyPr>
          <a:lstStyle/>
          <a:p>
            <a:r>
              <a:rPr lang="en-US" dirty="0"/>
              <a:t>The goal of this research project is to:</a:t>
            </a:r>
          </a:p>
          <a:p>
            <a:pPr lvl="1"/>
            <a:r>
              <a:rPr lang="en-US" i="1" dirty="0"/>
              <a:t>classify</a:t>
            </a:r>
            <a:r>
              <a:rPr lang="en-US" dirty="0"/>
              <a:t> any </a:t>
            </a:r>
            <a:r>
              <a:rPr lang="en-US" b="1" dirty="0"/>
              <a:t>true-color </a:t>
            </a:r>
            <a:r>
              <a:rPr lang="en-US" dirty="0"/>
              <a:t>image taken by a satellite of Earth into one of three categories:</a:t>
            </a:r>
          </a:p>
          <a:p>
            <a:pPr lvl="2"/>
            <a:r>
              <a:rPr lang="en-US" dirty="0"/>
              <a:t>an </a:t>
            </a:r>
            <a:r>
              <a:rPr lang="en-US" u="sng" dirty="0"/>
              <a:t>urban</a:t>
            </a:r>
            <a:r>
              <a:rPr lang="en-US" dirty="0"/>
              <a:t> settlement</a:t>
            </a:r>
          </a:p>
          <a:p>
            <a:pPr lvl="2"/>
            <a:r>
              <a:rPr lang="en-US" dirty="0"/>
              <a:t>a </a:t>
            </a:r>
            <a:r>
              <a:rPr lang="en-US" u="sng" dirty="0"/>
              <a:t>rural</a:t>
            </a:r>
            <a:r>
              <a:rPr lang="en-US" dirty="0"/>
              <a:t> settlement</a:t>
            </a:r>
          </a:p>
          <a:p>
            <a:pPr lvl="2"/>
            <a:r>
              <a:rPr lang="en-US" u="sng" dirty="0"/>
              <a:t>uninhabited</a:t>
            </a:r>
            <a:r>
              <a:rPr lang="en-US" dirty="0"/>
              <a:t> land</a:t>
            </a:r>
          </a:p>
          <a:p>
            <a:pPr lvl="1"/>
            <a:r>
              <a:rPr lang="en-US" dirty="0"/>
              <a:t>The definitions of each of these categories are derived from the publication by Liu et al. (2024).</a:t>
            </a:r>
          </a:p>
          <a:p>
            <a:pPr lvl="1"/>
            <a:r>
              <a:rPr lang="en-US" dirty="0"/>
              <a:t>As land-cover heterogeneity cannot be discretized without excessive information loss, the final predictions are soft probabilities that sum to 1.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E943F-3088-5DFF-F06E-85211899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C7894-9272-C5F3-537E-F7D8C5E42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FCC1D-8BD6-C3DD-8012-778520A1B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7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865"/>
    </mc:Choice>
    <mc:Fallback xmlns="">
      <p:transition spd="slow" advTm="6086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07A98-5421-4CD9-ED2C-CF9E68B7B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043C1-9C88-DF2D-80BC-3D936D98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2FC6F-FF46-3360-0349-FC85DD797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247" y="1238421"/>
            <a:ext cx="10045505" cy="472243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want to obtain true-color satellite imagery from a reputable source. </a:t>
            </a:r>
          </a:p>
          <a:p>
            <a:pPr lvl="1"/>
            <a:r>
              <a:rPr lang="en-US" dirty="0"/>
              <a:t>That means any generated simulations of satellite data (such as fake layers) are prohibited.</a:t>
            </a:r>
          </a:p>
          <a:p>
            <a:r>
              <a:rPr lang="en-US" dirty="0"/>
              <a:t>Microsoft's Planetary Computer gives us datasets from </a:t>
            </a:r>
            <a:r>
              <a:rPr lang="en-US" i="1" dirty="0"/>
              <a:t>Harmonized Landsat and Sentinel-2 (HLS) v2.0 </a:t>
            </a:r>
            <a:r>
              <a:rPr lang="en-US" dirty="0"/>
              <a:t>at 30-meter resolution. </a:t>
            </a:r>
          </a:p>
          <a:p>
            <a:pPr lvl="1" algn="l"/>
            <a:r>
              <a:rPr lang="en-US" dirty="0"/>
              <a:t>The coverage of the world is extensive, and this will be the dataset of choice.</a:t>
            </a:r>
          </a:p>
          <a:p>
            <a:r>
              <a:rPr lang="en-US" dirty="0"/>
              <a:t>The ground truths will be determined by the </a:t>
            </a:r>
            <a:r>
              <a:rPr lang="en-US" i="1" dirty="0"/>
              <a:t>2020</a:t>
            </a:r>
            <a:r>
              <a:rPr lang="en-US" dirty="0"/>
              <a:t> </a:t>
            </a:r>
            <a:r>
              <a:rPr lang="en-US" i="1" dirty="0"/>
              <a:t>Global Rural and Urban Settlement (GURS) </a:t>
            </a:r>
            <a:r>
              <a:rPr lang="en-US" dirty="0"/>
              <a:t>dataset (Liu et al., 2024).</a:t>
            </a:r>
          </a:p>
          <a:p>
            <a:pPr lvl="1" algn="l"/>
            <a:r>
              <a:rPr lang="en-US" dirty="0"/>
              <a:t>A value of “1” represents </a:t>
            </a:r>
            <a:r>
              <a:rPr lang="en-US" b="1" dirty="0"/>
              <a:t>urban.</a:t>
            </a:r>
          </a:p>
          <a:p>
            <a:pPr lvl="1" algn="l"/>
            <a:r>
              <a:rPr lang="en-US" dirty="0"/>
              <a:t>A value of “2” represents </a:t>
            </a:r>
            <a:r>
              <a:rPr lang="en-US" b="1" dirty="0"/>
              <a:t>rural.</a:t>
            </a:r>
          </a:p>
          <a:p>
            <a:pPr lvl="1" algn="l"/>
            <a:r>
              <a:rPr lang="en-US" dirty="0"/>
              <a:t>A value of “127” represents </a:t>
            </a:r>
            <a:r>
              <a:rPr lang="en-US" b="1" dirty="0"/>
              <a:t>uninhabited.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5C5AB-EF62-E707-87FF-5405E518E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C21B-06C5-2BC2-29BB-F780CD808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D3DA7-E78C-5CAA-7F38-912D1EA6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4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257"/>
    </mc:Choice>
    <mc:Fallback xmlns="">
      <p:transition spd="slow" advTm="4825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9C27C-7B29-52A2-1031-172AB55A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19378-A548-E81E-E2CF-3C349B689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Region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97194-1B04-54F2-3571-464ED6C4F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247" y="1238421"/>
            <a:ext cx="10045505" cy="4722432"/>
          </a:xfrm>
        </p:spPr>
        <p:txBody>
          <a:bodyPr>
            <a:noAutofit/>
          </a:bodyPr>
          <a:lstStyle/>
          <a:p>
            <a:r>
              <a:rPr lang="en-US" sz="1800" dirty="0"/>
              <a:t>To ensure equal coverage of most human settlements in the world, we select six bounding boxes, each representing a geographical area of human activity for every inhabited continent. </a:t>
            </a:r>
          </a:p>
          <a:p>
            <a:pPr lvl="1"/>
            <a:r>
              <a:rPr lang="en-US" sz="1800" i="1" dirty="0"/>
              <a:t>Europe and Asia will be considered separate continents since analysis is done on human and not natural geography.</a:t>
            </a:r>
          </a:p>
          <a:p>
            <a:r>
              <a:rPr lang="en-US" sz="2200" dirty="0"/>
              <a:t>For each continent, the following regions are cut off due to low population density: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North America: most of northern Canadian territories and all of Alaska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Asia: much of the Siberian wilderness and Eurasian Steppe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South America: most of Patagonia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Africa: most of the Sahara desert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Australia's outback will be kept to see how the model performs.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Edge cases, such as ocean data and Antarctica, may appear sporadically but are not the focus of the model.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11DC0-8FAF-1BB5-D2E5-40429CADF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4EF61-FD89-5AEE-09E8-A76BF8E3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1C573-C249-4226-9D8E-8EEDCBCA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0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52"/>
    </mc:Choice>
    <mc:Fallback xmlns="">
      <p:transition spd="slow" advTm="5935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C31FF-1E0A-3A5A-474F-00C6158E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FA0E-C3CC-865B-0319-9D5BF20B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Satellite Imagery Coverage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A4614-E69E-CA73-F325-BAE36F0B9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D2E9E-7E51-CF82-0390-67C83C1A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2C62C-4208-68EE-E357-DFB516D2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DA4F92-6349-5D5F-6AFD-C09ED80E4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1312833"/>
            <a:ext cx="11258550" cy="462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98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31"/>
    </mc:Choice>
    <mc:Fallback xmlns="">
      <p:transition spd="slow" advTm="1243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C090B-B529-FBAE-1D30-E10EAB1C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DB92-9292-05FE-8CCE-908E96B20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Satellite Imagery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414A2-5F41-5B10-724E-D23FC9D8E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247" y="1238421"/>
            <a:ext cx="10045505" cy="5041610"/>
          </a:xfrm>
        </p:spPr>
        <p:txBody>
          <a:bodyPr>
            <a:noAutofit/>
          </a:bodyPr>
          <a:lstStyle/>
          <a:p>
            <a:r>
              <a:rPr lang="en-US" sz="2400" dirty="0"/>
              <a:t>The raw </a:t>
            </a:r>
            <a:r>
              <a:rPr lang="en-US" sz="2400" dirty="0" err="1"/>
              <a:t>GeoTIFFs</a:t>
            </a:r>
            <a:r>
              <a:rPr lang="en-US" sz="2400" dirty="0"/>
              <a:t> all have different coordinate reference systems, but GURS uses WGS 84. </a:t>
            </a:r>
          </a:p>
          <a:p>
            <a:pPr lvl="1"/>
            <a:r>
              <a:rPr lang="en-US" dirty="0"/>
              <a:t>Therefore, we convert all the imagery to EPSG:4326. </a:t>
            </a:r>
          </a:p>
          <a:p>
            <a:r>
              <a:rPr lang="en-US" sz="2400" dirty="0"/>
              <a:t>Furthermore, to help the model digest the imagery more easily, we need to avoid loading whole </a:t>
            </a:r>
            <a:r>
              <a:rPr lang="en-US" sz="2400" dirty="0" err="1"/>
              <a:t>GeoTIFFs</a:t>
            </a:r>
            <a:r>
              <a:rPr lang="en-US" sz="2400" dirty="0"/>
              <a:t> into RAM at a time. </a:t>
            </a:r>
          </a:p>
          <a:p>
            <a:pPr lvl="1"/>
            <a:r>
              <a:rPr lang="en-US" dirty="0"/>
              <a:t>For any raw </a:t>
            </a:r>
            <a:r>
              <a:rPr lang="en-US" dirty="0" err="1"/>
              <a:t>GeoTIFF</a:t>
            </a:r>
            <a:r>
              <a:rPr lang="en-US" dirty="0"/>
              <a:t>, we can slice the raster into 64 quadrants to enhance surface detail. </a:t>
            </a:r>
          </a:p>
          <a:p>
            <a:r>
              <a:rPr lang="en-US" sz="2400" dirty="0"/>
              <a:t>Some tiles will be mostly black. </a:t>
            </a:r>
          </a:p>
          <a:p>
            <a:pPr lvl="1"/>
            <a:r>
              <a:rPr lang="en-US" dirty="0"/>
              <a:t>If more than 20% of the tile is black pixels, we discard it. Otherwise, we save the output into a new directory on disk.</a:t>
            </a:r>
          </a:p>
          <a:p>
            <a:r>
              <a:rPr lang="en-US" sz="2400" dirty="0"/>
              <a:t>This process generates 30,444 distinct satellite tiles.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E32D2-28B8-8629-032A-C6443433D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36864-879F-F29F-73B2-688BCF94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C5268-8734-BEF3-9126-DC01943A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23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265"/>
    </mc:Choice>
    <mc:Fallback xmlns="">
      <p:transition spd="slow" advTm="3926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A2DE3-0036-5D09-862C-CAE2990D6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126FD-6CAE-443E-892B-97BE68D2E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</p:spPr>
        <p:txBody>
          <a:bodyPr anchor="ctr">
            <a:normAutofit/>
          </a:bodyPr>
          <a:lstStyle/>
          <a:p>
            <a:r>
              <a:rPr lang="en-US" sz="4100"/>
              <a:t>Ground Truth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AD847-9D57-C610-FDDA-D077C9C3E0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6275" y="1348219"/>
            <a:ext cx="5390072" cy="43365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The ground truths of each tile will be extracted from the GURS 2020 raster in two main steps:</a:t>
            </a:r>
          </a:p>
          <a:p>
            <a:pPr lvl="1" algn="l">
              <a:lnSpc>
                <a:spcPct val="100000"/>
              </a:lnSpc>
            </a:pPr>
            <a:r>
              <a:rPr lang="en-US" sz="2000" dirty="0"/>
              <a:t>Isolate the portion of GURS 2020 such that it represents the geographical area covered by any specific tile.</a:t>
            </a:r>
          </a:p>
          <a:p>
            <a:pPr lvl="1" algn="l">
              <a:lnSpc>
                <a:spcPct val="100000"/>
              </a:lnSpc>
            </a:pPr>
            <a:r>
              <a:rPr lang="en-US" sz="2000" dirty="0"/>
              <a:t>Assign a score to each land-cover label in the GURS dataset (urban, rural, uninhabited), reflecting the fractional representation of the respective class within each region.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Finally, the frequencies are saved as a CSV file representing the ground truths of each tile.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8" name="Picture 7" descr="A table of numbers on a white background&#10;&#10;AI-generated content may be incorrect.">
            <a:extLst>
              <a:ext uri="{FF2B5EF4-FFF2-40B4-BE49-F238E27FC236}">
                <a16:creationId xmlns:a16="http://schemas.microsoft.com/office/drawing/2014/main" id="{8586C8CB-8E80-AA69-75A9-962E0E389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48220"/>
            <a:ext cx="5782116" cy="4336587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C5766-6086-CE78-6FE1-3C18E161CA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568457"/>
            <a:ext cx="27432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D6DE-CEFA-77C7-6A84-104C1CE93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457"/>
            <a:ext cx="60960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455E1-7E58-B6A7-F0F6-C75C5C8C3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568457"/>
            <a:ext cx="3352800" cy="28954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AA8105A-9F50-7A47-B22F-19856B84F6D6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48"/>
    </mc:Choice>
    <mc:Fallback xmlns="">
      <p:transition spd="slow" advTm="3184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C12BB-9B81-EE72-CB95-9E09FBC2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D0712-FF6E-A7F9-B257-27D26B2D2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5A43A-AEE5-FC91-FDE0-E04B6A2F3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247" y="1238421"/>
            <a:ext cx="10045505" cy="4722432"/>
          </a:xfrm>
        </p:spPr>
        <p:txBody>
          <a:bodyPr>
            <a:noAutofit/>
          </a:bodyPr>
          <a:lstStyle/>
          <a:p>
            <a:r>
              <a:rPr lang="en-US" i="1" dirty="0"/>
              <a:t>k</a:t>
            </a:r>
            <a:r>
              <a:rPr lang="en-US" dirty="0"/>
              <a:t>-means clustering was chosen as the unsupervised learning technique.</a:t>
            </a:r>
            <a:endParaRPr lang="en-US" sz="600" dirty="0"/>
          </a:p>
          <a:p>
            <a:r>
              <a:rPr lang="en-US" dirty="0"/>
              <a:t>We select 19 distinct features to easily cluster the data based on certain visual aspects of the tile. </a:t>
            </a:r>
          </a:p>
          <a:p>
            <a:pPr lvl="1"/>
            <a:r>
              <a:rPr lang="en-US" dirty="0"/>
              <a:t>For example, urban tiles are noisier due to the number of structures. Uninhabited deserts should look smooth and homogeneous.</a:t>
            </a:r>
          </a:p>
          <a:p>
            <a:pPr lvl="1"/>
            <a:r>
              <a:rPr lang="en-US" dirty="0"/>
              <a:t>The features are the mean, standard deviation, 10</a:t>
            </a:r>
            <a:r>
              <a:rPr lang="en-US" baseline="30000" dirty="0"/>
              <a:t>th</a:t>
            </a:r>
            <a:r>
              <a:rPr lang="en-US" dirty="0"/>
              <a:t>, 50</a:t>
            </a:r>
            <a:r>
              <a:rPr lang="en-US" baseline="30000" dirty="0"/>
              <a:t>th</a:t>
            </a:r>
            <a:r>
              <a:rPr lang="en-US" dirty="0"/>
              <a:t>, 90</a:t>
            </a:r>
            <a:r>
              <a:rPr lang="en-US" baseline="30000" dirty="0"/>
              <a:t>th</a:t>
            </a:r>
            <a:r>
              <a:rPr lang="en-US" dirty="0"/>
              <a:t> percentiles of each RGB band, as well as some other statistics related to noise and variance of each patch.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30449-3B92-8C58-7D08-DCA370DB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A65CD-00ED-EFC9-1B97-5D413D3A1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96E22-4EEA-5793-6184-714C6C682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4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96"/>
    </mc:Choice>
    <mc:Fallback xmlns="">
      <p:transition spd="slow" advTm="3709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5F08-F148-2729-2DCD-B5778411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49A8A-60BA-DBCB-60DE-AB7AA8731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</p:spPr>
        <p:txBody>
          <a:bodyPr anchor="ctr">
            <a:normAutofit/>
          </a:bodyPr>
          <a:lstStyle/>
          <a:p>
            <a:r>
              <a:rPr lang="en-US" sz="4100" dirty="0"/>
              <a:t>Mean Silhouette Score vs.</a:t>
            </a:r>
            <a:r>
              <a:rPr lang="en-US" sz="4100" i="1" dirty="0"/>
              <a:t> k</a:t>
            </a:r>
            <a:endParaRPr lang="en-US" sz="41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5391E-95DD-A7C7-33D8-D0F85B79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568457"/>
            <a:ext cx="27432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8DE25-4658-4015-A696-81C36C51C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457"/>
            <a:ext cx="60960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76BEE-6FCA-683D-1308-1F3135E3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568457"/>
            <a:ext cx="3352800" cy="28954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AA8105A-9F50-7A47-B22F-19856B84F6D6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2A9258C-22E5-437C-91BE-0D211092B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347" y="1184965"/>
            <a:ext cx="7057306" cy="4881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18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52"/>
    </mc:Choice>
    <mc:Fallback xmlns="">
      <p:transition spd="slow" advTm="1555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61BEB-4EB8-FAC5-B914-083E49895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24B9F-70C1-AFB2-6A33-E3CD37E54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</p:spPr>
        <p:txBody>
          <a:bodyPr anchor="ctr">
            <a:normAutofit/>
          </a:bodyPr>
          <a:lstStyle/>
          <a:p>
            <a:r>
              <a:rPr lang="en-US" sz="4100" dirty="0"/>
              <a:t>Selected Tiles for </a:t>
            </a:r>
            <a:r>
              <a:rPr lang="en-US" sz="4100" i="1" dirty="0"/>
              <a:t>k </a:t>
            </a:r>
            <a:r>
              <a:rPr lang="en-US" sz="4100" dirty="0"/>
              <a:t>= 3 Clusters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441B5-4F62-B8C8-0F97-F54E4407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568457"/>
            <a:ext cx="27432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164D2-3945-C74B-27AB-1606CCB73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457"/>
            <a:ext cx="60960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874FD-BA28-0076-C4BA-1589EBE45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568457"/>
            <a:ext cx="3352800" cy="28954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AA8105A-9F50-7A47-B22F-19856B84F6D6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82B04AC-8135-1C0B-2333-1E8D0F903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82" y="907525"/>
            <a:ext cx="10508716" cy="543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30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728"/>
    </mc:Choice>
    <mc:Fallback xmlns="">
      <p:transition spd="slow" advTm="2972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B0503-4A1A-0A0A-30B4-E17F4EEDA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1FE1-4113-F572-916D-B43594CA3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Shallow 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D1463-C049-4AB2-1FE2-80293EC8E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247" y="1238421"/>
            <a:ext cx="10045505" cy="4722432"/>
          </a:xfrm>
        </p:spPr>
        <p:txBody>
          <a:bodyPr>
            <a:noAutofit/>
          </a:bodyPr>
          <a:lstStyle/>
          <a:p>
            <a:r>
              <a:rPr lang="en-US" sz="2400" dirty="0"/>
              <a:t>The first supervised learning technique chosen was </a:t>
            </a:r>
            <a:r>
              <a:rPr lang="en-US" sz="2400" i="1" dirty="0"/>
              <a:t>gradient boosting</a:t>
            </a:r>
            <a:r>
              <a:rPr lang="en-US" sz="2400" dirty="0"/>
              <a:t>.</a:t>
            </a:r>
          </a:p>
          <a:p>
            <a:pPr lvl="1"/>
            <a:r>
              <a:rPr lang="en-US" dirty="0"/>
              <a:t>For each tile, we extract 12 features containing the mean, standard deviation, minimum, and maximum of each RGB band.</a:t>
            </a:r>
          </a:p>
          <a:p>
            <a:pPr lvl="1"/>
            <a:r>
              <a:rPr lang="en-US" dirty="0"/>
              <a:t>Due to extreme class imbalance, we also want to oversample minority classes during the training phase. (This will be true for all supervised learning models.)</a:t>
            </a:r>
          </a:p>
          <a:p>
            <a:r>
              <a:rPr lang="en-US" sz="2400" dirty="0"/>
              <a:t>After performing a 7-fold cross validation on a grid of 432 candidates, the best hyperparameters are:</a:t>
            </a:r>
          </a:p>
          <a:p>
            <a:pPr lvl="1" algn="l"/>
            <a:r>
              <a:rPr lang="el-GR" dirty="0"/>
              <a:t>η</a:t>
            </a:r>
            <a:r>
              <a:rPr lang="en-US" dirty="0"/>
              <a:t> = 0.01,		</a:t>
            </a:r>
            <a:r>
              <a:rPr lang="el-GR" dirty="0"/>
              <a:t>α</a:t>
            </a:r>
            <a:r>
              <a:rPr lang="en-US" dirty="0"/>
              <a:t> = 0, 		</a:t>
            </a:r>
            <a:r>
              <a:rPr lang="el-GR" dirty="0"/>
              <a:t>λ</a:t>
            </a:r>
            <a:r>
              <a:rPr lang="en-US" dirty="0"/>
              <a:t> = 1,		</a:t>
            </a:r>
            <a:r>
              <a:rPr lang="en-US" i="1" dirty="0"/>
              <a:t>max</a:t>
            </a:r>
            <a:r>
              <a:rPr lang="en-US" dirty="0"/>
              <a:t>(depth) = 8</a:t>
            </a:r>
          </a:p>
          <a:p>
            <a:pPr lvl="1" algn="l"/>
            <a:r>
              <a:rPr lang="en-US" dirty="0" err="1"/>
              <a:t>n_estimators</a:t>
            </a:r>
            <a:r>
              <a:rPr lang="en-US" dirty="0"/>
              <a:t> = 800,	</a:t>
            </a:r>
            <a:r>
              <a:rPr lang="en-US" dirty="0" err="1"/>
              <a:t>colsample_bytree</a:t>
            </a:r>
            <a:r>
              <a:rPr lang="en-US" dirty="0"/>
              <a:t> = 0.8, 	subsample = 0.8</a:t>
            </a:r>
          </a:p>
          <a:p>
            <a:r>
              <a:rPr lang="en-US" sz="2400" dirty="0"/>
              <a:t>Best cross-validated log loss: 0.142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740FB-D8CF-48E9-89F5-23615DA9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3CFC6-569A-B596-1703-D64F62D68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1FAE8-5515-D032-88A0-1C399352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2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88"/>
    </mc:Choice>
    <mc:Fallback xmlns="">
      <p:transition spd="slow" advTm="1948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E4E32-E82F-7FC2-8359-0157EE0C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CDDD-3036-D66F-9B46-623D3FE03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</p:spPr>
        <p:txBody>
          <a:bodyPr anchor="ctr">
            <a:normAutofit/>
          </a:bodyPr>
          <a:lstStyle/>
          <a:p>
            <a:r>
              <a:rPr lang="en-US" sz="4100"/>
              <a:t>Gradient Boosting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8EDB5-106D-6A35-FDDD-63B4BE027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24265"/>
            <a:ext cx="5638800" cy="47937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/>
              <a:t>Evaluation is done on an 80% to 20% train-test split.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Selected metrics:</a:t>
            </a:r>
          </a:p>
          <a:p>
            <a:pPr lvl="1" algn="l" latinLnBrk="1">
              <a:lnSpc>
                <a:spcPct val="100000"/>
              </a:lnSpc>
            </a:pPr>
            <a:r>
              <a:rPr lang="en-US" sz="2600" dirty="0"/>
              <a:t>Cross Entropy = 0.2932</a:t>
            </a:r>
          </a:p>
          <a:p>
            <a:pPr lvl="1" algn="l" latinLnBrk="1">
              <a:lnSpc>
                <a:spcPct val="100000"/>
              </a:lnSpc>
            </a:pPr>
            <a:r>
              <a:rPr lang="en-US" sz="2600" dirty="0"/>
              <a:t>Accuracy = 0.8796</a:t>
            </a:r>
          </a:p>
          <a:p>
            <a:pPr lvl="1" algn="l" latinLnBrk="1">
              <a:lnSpc>
                <a:spcPct val="100000"/>
              </a:lnSpc>
            </a:pPr>
            <a:r>
              <a:rPr lang="en-US" sz="2600" dirty="0"/>
              <a:t>Macro Precision = 0.4305</a:t>
            </a:r>
          </a:p>
          <a:p>
            <a:pPr lvl="1" algn="l" latinLnBrk="1">
              <a:lnSpc>
                <a:spcPct val="100000"/>
              </a:lnSpc>
            </a:pPr>
            <a:r>
              <a:rPr lang="en-US" sz="2600" dirty="0"/>
              <a:t>Macro Recall = 0.6284</a:t>
            </a:r>
          </a:p>
          <a:p>
            <a:pPr lvl="1" algn="l" latinLnBrk="1">
              <a:lnSpc>
                <a:spcPct val="100000"/>
              </a:lnSpc>
            </a:pPr>
            <a:r>
              <a:rPr lang="en-US" sz="2600" dirty="0"/>
              <a:t>Macro F1 Score = 0.4686</a:t>
            </a:r>
            <a:br>
              <a:rPr lang="en-US" sz="2600" dirty="0"/>
            </a:br>
            <a:endParaRPr lang="en-US" sz="2600" dirty="0"/>
          </a:p>
          <a:p>
            <a:pPr>
              <a:lnSpc>
                <a:spcPct val="100000"/>
              </a:lnSpc>
            </a:pPr>
            <a:endParaRPr lang="en-US" sz="26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D999989-306A-03BC-496D-4046CA466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96775" y="1624265"/>
            <a:ext cx="6038025" cy="442285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BD36E-90FF-1973-19AF-E5752619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568457"/>
            <a:ext cx="27432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7856D-CB32-7184-815E-E1746D8C4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457"/>
            <a:ext cx="60960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99DE6-3E53-D438-DCBD-CA50A3ABC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568457"/>
            <a:ext cx="3352800" cy="28954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AA8105A-9F50-7A47-B22F-19856B84F6D6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39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23"/>
    </mc:Choice>
    <mc:Fallback xmlns="">
      <p:transition spd="slow" advTm="482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30087-6FA2-940D-5A18-0F619AE1F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C0D-7F39-E4AA-E124-84F0AB4C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</p:spPr>
        <p:txBody>
          <a:bodyPr anchor="ctr">
            <a:normAutofit/>
          </a:bodyPr>
          <a:lstStyle/>
          <a:p>
            <a:r>
              <a:rPr lang="en-US" sz="4100" dirty="0"/>
              <a:t>Gradient Boosting Top Predictions - Urban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B29F4-FFDD-A026-3F12-BD0E135D47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568457"/>
            <a:ext cx="27432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320F0-97DC-1827-D34D-80C727E84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457"/>
            <a:ext cx="60960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28EEB-91B2-A696-9CF3-5FF69E97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568457"/>
            <a:ext cx="3352800" cy="28954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AA8105A-9F50-7A47-B22F-19856B84F6D6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4BD1548-0188-9BF4-3FD7-C74187716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689" y="1147670"/>
            <a:ext cx="11048621" cy="4351338"/>
          </a:xfrm>
        </p:spPr>
        <p:txBody>
          <a:bodyPr/>
          <a:lstStyle/>
          <a:p>
            <a:r>
              <a:rPr lang="en-US" dirty="0"/>
              <a:t>Phoenix, Arizona, U.S. (</a:t>
            </a:r>
            <a:r>
              <a:rPr lang="en-US" dirty="0">
                <a:hlinkClick r:id="rId2"/>
              </a:rPr>
              <a:t>https://maps.app.goo.gl/bt2JWSW8afXVU9fX7</a:t>
            </a:r>
            <a:r>
              <a:rPr lang="en-US" dirty="0"/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6EF283-F111-5F1B-F172-0AFF4186A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81" y="1874657"/>
            <a:ext cx="11154838" cy="405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46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8"/>
    </mc:Choice>
    <mc:Fallback xmlns="">
      <p:transition spd="slow" advTm="868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E6923-3B7F-01CB-908F-6CEF4305A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1532F-822F-D7F9-71B6-FD4B62BD8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</p:spPr>
        <p:txBody>
          <a:bodyPr anchor="ctr">
            <a:normAutofit/>
          </a:bodyPr>
          <a:lstStyle/>
          <a:p>
            <a:r>
              <a:rPr lang="en-US" sz="4100" dirty="0"/>
              <a:t>Gradient Boosting Top Predictions - Rural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6E098-B145-5E6C-088F-6A9206CA8B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568457"/>
            <a:ext cx="27432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7C9C6-D697-1053-A8FE-2AC15B6AD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457"/>
            <a:ext cx="60960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68667-11AC-59EC-00D4-818FFEDCB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568457"/>
            <a:ext cx="3352800" cy="28954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AA8105A-9F50-7A47-B22F-19856B84F6D6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644102-F640-2601-6ACA-9D61F758E7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689" y="1147670"/>
            <a:ext cx="11048621" cy="726987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Linying</a:t>
            </a:r>
            <a:r>
              <a:rPr lang="en-US" dirty="0"/>
              <a:t> County, </a:t>
            </a:r>
            <a:r>
              <a:rPr lang="en-US" dirty="0" err="1"/>
              <a:t>Luohe</a:t>
            </a:r>
            <a:r>
              <a:rPr lang="en-US" dirty="0"/>
              <a:t>, Henan, China (</a:t>
            </a:r>
            <a:r>
              <a:rPr lang="en-US" dirty="0">
                <a:hlinkClick r:id="rId2"/>
              </a:rPr>
              <a:t>https://maps.app.goo.gl/wnEjTqggmo27DeJr5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122596-9C31-1A6B-3A4C-1BFFAD1AB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16" y="1874657"/>
            <a:ext cx="11253965" cy="406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54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36"/>
    </mc:Choice>
    <mc:Fallback xmlns="">
      <p:transition spd="slow" advTm="2033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C34F2-48C2-ADDB-DA7B-B9277A38B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7B277-47F8-B484-A384-9F0D35615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</p:spPr>
        <p:txBody>
          <a:bodyPr anchor="ctr">
            <a:normAutofit/>
          </a:bodyPr>
          <a:lstStyle/>
          <a:p>
            <a:r>
              <a:rPr lang="en-US" sz="4100" dirty="0"/>
              <a:t>Gradient Boosting Top Predictions - Uninhabited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FFF0E-6A9B-1219-5BE2-DC3FF26DB4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568457"/>
            <a:ext cx="27432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3DF58-181C-4765-EF12-F8E48CDFA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457"/>
            <a:ext cx="60960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86B99-99F1-3424-3659-FC7AAFA51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568457"/>
            <a:ext cx="3352800" cy="28954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AA8105A-9F50-7A47-B22F-19856B84F6D6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0732B01-EA5B-DD7A-CB96-766AA3833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689" y="1147670"/>
            <a:ext cx="11048621" cy="726987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en-US" dirty="0" err="1"/>
              <a:t>Tallaringa</a:t>
            </a:r>
            <a:r>
              <a:rPr lang="en-US" dirty="0"/>
              <a:t> Conservation Park, South Australia (</a:t>
            </a:r>
            <a:r>
              <a:rPr lang="en-US" dirty="0">
                <a:hlinkClick r:id="rId2"/>
              </a:rPr>
              <a:t>https://maps.app.goo.gl/ZJA3veYzmqNFn3Vs7</a:t>
            </a:r>
            <a:r>
              <a:rPr lang="en-US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E839BE-1F59-C7C8-3B29-A19255870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44" y="1797019"/>
            <a:ext cx="11270710" cy="410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5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91"/>
    </mc:Choice>
    <mc:Fallback xmlns="">
      <p:transition spd="slow" advTm="1209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EA04-85C5-9AB9-7D3B-BBCC50BF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5E4E-7B6A-823A-22FA-9764010EE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Deep 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AACDD-A9D2-D3CA-7F43-603153A59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247" y="1238421"/>
            <a:ext cx="10045505" cy="4722432"/>
          </a:xfrm>
        </p:spPr>
        <p:txBody>
          <a:bodyPr>
            <a:noAutofit/>
          </a:bodyPr>
          <a:lstStyle/>
          <a:p>
            <a:r>
              <a:rPr lang="en-US" sz="2400" dirty="0"/>
              <a:t>The second supervised learning technique chosen was using </a:t>
            </a:r>
            <a:r>
              <a:rPr lang="en-US" sz="2400" i="1" dirty="0"/>
              <a:t>convolutional neural networks</a:t>
            </a:r>
            <a:r>
              <a:rPr lang="en-US" sz="2400" dirty="0"/>
              <a:t>.</a:t>
            </a:r>
          </a:p>
          <a:p>
            <a:pPr lvl="1"/>
            <a:r>
              <a:rPr lang="en-US" sz="2000" dirty="0"/>
              <a:t>Due to hardware constraints and the nature of the problem, </a:t>
            </a:r>
            <a:r>
              <a:rPr lang="en-US" sz="2000" b="1" dirty="0"/>
              <a:t>ResNet-34</a:t>
            </a:r>
            <a:r>
              <a:rPr lang="en-US" sz="2000" dirty="0"/>
              <a:t> was chosen to be the CNN we will tune.</a:t>
            </a:r>
          </a:p>
          <a:p>
            <a:r>
              <a:rPr lang="en-US" sz="2400" dirty="0"/>
              <a:t>He et al. (2015) stated that this type of residual network with 34 parameter layers has around 3.6 GFLOPS. Given the theoretical peak of our GPU (~4.4 TFLOPS), we can do well over a thousand forward passes per second. </a:t>
            </a:r>
          </a:p>
          <a:p>
            <a:pPr lvl="1"/>
            <a:r>
              <a:rPr lang="en-US" sz="2000" dirty="0"/>
              <a:t>Even though real training will be much slower, this still gives us enough headroom to not suffer too much of a slowdown given our GPU.</a:t>
            </a:r>
          </a:p>
          <a:p>
            <a:r>
              <a:rPr lang="en-US" sz="2400" dirty="0"/>
              <a:t>After performing a 5-fold cross validation on a grid of 18 candidates with 3 epochs each, the best hyperparameters are:   </a:t>
            </a:r>
            <a:r>
              <a:rPr lang="el-GR" sz="2400" dirty="0"/>
              <a:t>η = </a:t>
            </a:r>
            <a:r>
              <a:rPr lang="en-US" sz="2400" dirty="0"/>
              <a:t>10</a:t>
            </a:r>
            <a:r>
              <a:rPr lang="el-GR" sz="2400" dirty="0"/>
              <a:t>⁻⁴,</a:t>
            </a:r>
            <a:r>
              <a:rPr lang="en-US" sz="2400" dirty="0"/>
              <a:t>    </a:t>
            </a:r>
            <a:r>
              <a:rPr lang="el-GR" sz="2400" dirty="0"/>
              <a:t>λ = </a:t>
            </a:r>
            <a:r>
              <a:rPr lang="en-US" sz="2400" dirty="0"/>
              <a:t>10⁻⁵</a:t>
            </a:r>
            <a:r>
              <a:rPr lang="el-GR" sz="2400" dirty="0"/>
              <a:t>,</a:t>
            </a:r>
            <a:r>
              <a:rPr lang="en-US" sz="2400" dirty="0"/>
              <a:t>    </a:t>
            </a:r>
            <a:r>
              <a:rPr lang="el-GR" sz="2400" dirty="0"/>
              <a:t>p = 0.</a:t>
            </a:r>
            <a:r>
              <a:rPr lang="en-US" sz="2400" dirty="0"/>
              <a:t>2</a:t>
            </a:r>
          </a:p>
          <a:p>
            <a:pPr lvl="1"/>
            <a:r>
              <a:rPr lang="en-US" sz="2000" dirty="0"/>
              <a:t>Lowest validation loss = 0.3195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6380C-C268-4D42-9608-9D0A188E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C256D-2894-57E1-7CCF-504DD884C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F9660-34F3-66E0-9CF2-D36E9BFC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71"/>
    </mc:Choice>
    <mc:Fallback xmlns="">
      <p:transition spd="slow" advTm="1697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E7E26-0BAF-B889-D166-31F1F8D96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0AD88-B1B7-EF96-54FB-3E5CCBDB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ResNet-34 CNN 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D3312-1A65-8ED9-9A99-0626DFA95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623" y="1229795"/>
            <a:ext cx="5022753" cy="4722432"/>
          </a:xfrm>
        </p:spPr>
        <p:txBody>
          <a:bodyPr>
            <a:noAutofit/>
          </a:bodyPr>
          <a:lstStyle/>
          <a:p>
            <a:r>
              <a:rPr lang="en-US" sz="2400" dirty="0"/>
              <a:t>Once again, evaluation is done on an 80%/20% train-test split. </a:t>
            </a:r>
          </a:p>
          <a:p>
            <a:pPr lvl="1"/>
            <a:r>
              <a:rPr lang="en-US" sz="2000" dirty="0"/>
              <a:t>The final model was trained over 30 epochs. (10x epochs of grid search)</a:t>
            </a:r>
          </a:p>
          <a:p>
            <a:r>
              <a:rPr lang="en-US" sz="2400" dirty="0"/>
              <a:t>Selected metrics:</a:t>
            </a:r>
          </a:p>
          <a:p>
            <a:pPr lvl="1"/>
            <a:r>
              <a:rPr lang="en-US" sz="2000" dirty="0"/>
              <a:t>Final average validation loss = 0.3172</a:t>
            </a:r>
          </a:p>
          <a:p>
            <a:pPr lvl="1"/>
            <a:r>
              <a:rPr lang="en-US" sz="2000" dirty="0"/>
              <a:t>Accuracy = 0.9629</a:t>
            </a:r>
          </a:p>
          <a:p>
            <a:pPr lvl="1"/>
            <a:r>
              <a:rPr lang="en-US" sz="2000" dirty="0"/>
              <a:t>Macro Precision = 0.6965</a:t>
            </a:r>
          </a:p>
          <a:p>
            <a:pPr lvl="1"/>
            <a:r>
              <a:rPr lang="en-US" sz="2000" dirty="0"/>
              <a:t>Macro Recall = 0.5074</a:t>
            </a:r>
          </a:p>
          <a:p>
            <a:pPr lvl="1"/>
            <a:r>
              <a:rPr lang="en-US" sz="2000" dirty="0"/>
              <a:t>Macro F1 = 0.5653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7F346-28EC-A31D-7740-9E4EC233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DE818-1B74-EFD0-7D15-B8D545AD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5E38D-CEC8-D1DC-E657-CBFD0F55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86D963-3CD1-F528-A6E1-03DBDF026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656" y="1523755"/>
            <a:ext cx="6007088" cy="4398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29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8"/>
    </mc:Choice>
    <mc:Fallback xmlns="">
      <p:transition spd="slow" advTm="332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0F1D-108F-41B3-3B98-8274EB77A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E320B-7123-15A3-5EE6-452BDF93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</p:spPr>
        <p:txBody>
          <a:bodyPr anchor="ctr">
            <a:normAutofit/>
          </a:bodyPr>
          <a:lstStyle/>
          <a:p>
            <a:r>
              <a:rPr lang="en-US" sz="4100" dirty="0"/>
              <a:t>ResNet-34 CNN Top Predictions - Urban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DE527-1EB6-531C-C7F5-B2164F95C9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568457"/>
            <a:ext cx="27432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6341A-E4A0-DAA1-B71F-BD499FEBA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457"/>
            <a:ext cx="60960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A72BC-91E5-9ED7-980E-D64C9D38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568457"/>
            <a:ext cx="3352800" cy="28954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AA8105A-9F50-7A47-B22F-19856B84F6D6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65E1BD-DF94-A876-F7F9-A202B23D95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787" y="1253331"/>
            <a:ext cx="11463362" cy="4351338"/>
          </a:xfrm>
        </p:spPr>
        <p:txBody>
          <a:bodyPr/>
          <a:lstStyle/>
          <a:p>
            <a:r>
              <a:rPr lang="en-US" dirty="0"/>
              <a:t>Western Berlin, Germany (</a:t>
            </a:r>
            <a:r>
              <a:rPr lang="en-US" dirty="0">
                <a:hlinkClick r:id="rId2"/>
              </a:rPr>
              <a:t>https://maps.app.goo.gl/pisL3rcDGvqDbPZm8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2BB647-E589-9245-496A-82222061A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51" y="1976974"/>
            <a:ext cx="11550298" cy="387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19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43"/>
    </mc:Choice>
    <mc:Fallback xmlns="">
      <p:transition spd="slow" advTm="734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6F3D2-9BE2-AB49-F5D6-F59DD748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23397-8C06-51E0-C5BC-004F21CE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</p:spPr>
        <p:txBody>
          <a:bodyPr anchor="ctr">
            <a:normAutofit/>
          </a:bodyPr>
          <a:lstStyle/>
          <a:p>
            <a:r>
              <a:rPr lang="en-US" sz="4100" dirty="0"/>
              <a:t>ResNet-34 CNN Top Predictions - Rural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3FDB8-82E6-C00A-4A73-F13494C5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568457"/>
            <a:ext cx="27432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F9CEF-7F96-8E0D-EF14-16FECC19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457"/>
            <a:ext cx="60960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7CE76-D79F-FA19-7027-9957ADAB4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568457"/>
            <a:ext cx="3352800" cy="28954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AA8105A-9F50-7A47-B22F-19856B84F6D6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FC34F9-B6B6-3155-9BDC-DE950D673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787" y="1253331"/>
            <a:ext cx="11463362" cy="4351338"/>
          </a:xfrm>
        </p:spPr>
        <p:txBody>
          <a:bodyPr/>
          <a:lstStyle/>
          <a:p>
            <a:r>
              <a:rPr lang="en-US" dirty="0"/>
              <a:t>Peterstown, WV, U.S. (</a:t>
            </a:r>
            <a:r>
              <a:rPr lang="en-US" dirty="0">
                <a:hlinkClick r:id="rId2"/>
              </a:rPr>
              <a:t>https://maps.app.goo.gl/wA58TmNsWdNdjtct9</a:t>
            </a:r>
            <a:r>
              <a:rPr lang="en-US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AFC47E-8342-68E5-F5E6-62BAFFF86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69" y="1871313"/>
            <a:ext cx="11807061" cy="394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04"/>
    </mc:Choice>
    <mc:Fallback xmlns="">
      <p:transition spd="slow" advTm="10104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0EB3A-C367-FC3B-6137-B36E2D330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FFC8-1341-1183-F4CE-C605BA2F5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</p:spPr>
        <p:txBody>
          <a:bodyPr anchor="ctr">
            <a:normAutofit/>
          </a:bodyPr>
          <a:lstStyle/>
          <a:p>
            <a:r>
              <a:rPr lang="en-US" sz="4100" dirty="0"/>
              <a:t>ResNet-34 CNN Top Predictions - Uninhabited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9C3DF-BD6D-355B-0DC2-93AF615F63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568457"/>
            <a:ext cx="27432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23BDF-3BAB-D5CE-ADFD-54BFC563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457"/>
            <a:ext cx="6096000" cy="289543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BD737-0B8E-C158-A9F1-66C01F824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568457"/>
            <a:ext cx="3352800" cy="28954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AA8105A-9F50-7A47-B22F-19856B84F6D6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883834F-8639-17C9-4562-258B9E849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787" y="1253331"/>
            <a:ext cx="11463362" cy="4351338"/>
          </a:xfrm>
        </p:spPr>
        <p:txBody>
          <a:bodyPr/>
          <a:lstStyle/>
          <a:p>
            <a:r>
              <a:rPr lang="en-US" dirty="0"/>
              <a:t>Alboran Sea (</a:t>
            </a:r>
            <a:r>
              <a:rPr lang="en-US" dirty="0">
                <a:hlinkClick r:id="rId2"/>
              </a:rPr>
              <a:t>https://maps.app.goo.gl/akkkrvEkJTL13TVT9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ED931F-F93B-4398-1F28-D4B394DA2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76" y="1933591"/>
            <a:ext cx="11800847" cy="401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5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66"/>
    </mc:Choice>
    <mc:Fallback xmlns="">
      <p:transition spd="slow" advTm="1116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867EC-A75C-4119-64C5-9C6EC85B1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9D1F8-CDE5-3D23-4C36-7684EE1C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Supervised Model Metrics Comparison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16F1791-A2C2-2B52-4E6E-794B4570B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325" y="1410159"/>
            <a:ext cx="10893425" cy="434565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06186-3346-90B4-BC28-2C04FC08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B803B-C932-F4DB-7975-3D92D826B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DF2F3-D65F-ADD1-CB55-D9E3B7553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2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8"/>
    </mc:Choice>
    <mc:Fallback xmlns="">
      <p:transition spd="slow" advTm="3328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61A37-A532-DF4F-7BDC-D1AB51E0D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F8CC-AC10-E6A7-4774-902C70339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0F9B5-DB97-66A6-4465-559C98EFB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419" y="1186994"/>
            <a:ext cx="10555161" cy="4722432"/>
          </a:xfrm>
        </p:spPr>
        <p:txBody>
          <a:bodyPr>
            <a:noAutofit/>
          </a:bodyPr>
          <a:lstStyle/>
          <a:p>
            <a:r>
              <a:rPr lang="en-US" sz="2000" dirty="0"/>
              <a:t>For unsupervised learning, </a:t>
            </a:r>
            <a:r>
              <a:rPr lang="en-US" sz="2000" i="1" dirty="0"/>
              <a:t>k</a:t>
            </a:r>
            <a:r>
              <a:rPr lang="en-US" sz="2000" dirty="0"/>
              <a:t>-means clustering surprisingly clustered more on color than noise.</a:t>
            </a:r>
          </a:p>
          <a:p>
            <a:pPr lvl="1"/>
            <a:r>
              <a:rPr lang="en-US" sz="1600" dirty="0"/>
              <a:t>This produced three distinct clusters representing green forestry/grassland, deserts, and bodies of water.</a:t>
            </a:r>
          </a:p>
          <a:p>
            <a:r>
              <a:rPr lang="en-US" sz="2000" dirty="0"/>
              <a:t>For supervised learning methods, </a:t>
            </a:r>
            <a:r>
              <a:rPr lang="en-US" sz="2000" i="1" dirty="0"/>
              <a:t>gradient boosting </a:t>
            </a:r>
            <a:r>
              <a:rPr lang="en-US" sz="2000" dirty="0"/>
              <a:t>and </a:t>
            </a:r>
            <a:r>
              <a:rPr lang="en-US" sz="2000" i="1" dirty="0"/>
              <a:t>CNNs</a:t>
            </a:r>
            <a:r>
              <a:rPr lang="en-US" sz="2000" dirty="0"/>
              <a:t> performed much closer than expectation.</a:t>
            </a:r>
          </a:p>
          <a:p>
            <a:pPr lvl="1"/>
            <a:r>
              <a:rPr lang="en-US" sz="1600" dirty="0"/>
              <a:t>Looking at the qualitative top predictions of satellite photographs, gradient boosting made much more intuitive predictions (due to higher recall) than the ResNet-34 model.</a:t>
            </a:r>
          </a:p>
          <a:p>
            <a:pPr lvl="1"/>
            <a:r>
              <a:rPr lang="en-US" sz="1600" b="1" dirty="0"/>
              <a:t>However, </a:t>
            </a:r>
            <a:r>
              <a:rPr lang="en-US" sz="1600" dirty="0"/>
              <a:t>the metrics indicate that ResNet-34 outperformed gradient boosting in both accuracy, macro precision and F1 score.</a:t>
            </a:r>
          </a:p>
          <a:p>
            <a:r>
              <a:rPr lang="en-US" sz="2000" dirty="0"/>
              <a:t>Although ResNet-34 has more higher metrics than gradient boosting, the extreme class imbalance of the dataset makes recall critical.</a:t>
            </a:r>
          </a:p>
          <a:p>
            <a:pPr lvl="1"/>
            <a:r>
              <a:rPr lang="en-US" sz="1600" dirty="0"/>
              <a:t>Misclassifying a minority class (urban/rural) as uninhabited leads to loss of important human-settlement information.</a:t>
            </a:r>
          </a:p>
          <a:p>
            <a:pPr lvl="1"/>
            <a:r>
              <a:rPr lang="en-US" sz="1600" dirty="0"/>
              <a:t>In many remote sensing domains, missing urban/rural tiles is worse than misclassifying a few uninhabited tiles.</a:t>
            </a:r>
          </a:p>
          <a:p>
            <a:r>
              <a:rPr lang="en-US" sz="2000" dirty="0"/>
              <a:t>Therefore, the recommendation is to use </a:t>
            </a:r>
            <a:r>
              <a:rPr lang="en-US" sz="2000" b="1" dirty="0"/>
              <a:t>gradient boosting </a:t>
            </a:r>
            <a:r>
              <a:rPr lang="en-US" sz="2000" dirty="0"/>
              <a:t>considering the problem domain, metrics, and training efficiency when it comes to large-scale satellite settlement tile classification.</a:t>
            </a:r>
          </a:p>
          <a:p>
            <a:pPr lvl="1"/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A9B8C-9946-120A-872A-557561348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July 21,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EA152-F11D-F897-19A8-EEC35048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Global Settlement Classification from True-Color Satellite Imagery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23F62-1671-1AEB-A469-C7ABFBFC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61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826"/>
    </mc:Choice>
    <mc:Fallback xmlns="">
      <p:transition spd="slow" advTm="59826"/>
    </mc:Fallback>
  </mc:AlternateContent>
</p:sld>
</file>

<file path=ppt/theme/theme1.xml><?xml version="1.0" encoding="utf-8"?>
<a:theme xmlns:a="http://schemas.openxmlformats.org/drawingml/2006/main" name="beamer">
  <a:themeElements>
    <a:clrScheme name="Beamer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331B4"/>
      </a:accent1>
      <a:accent2>
        <a:srgbClr val="26268C"/>
      </a:accent2>
      <a:accent3>
        <a:srgbClr val="1C1B67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amer" id="{721F074C-604C-4843-BFBE-9B67CF8164E2}" vid="{BB55CEE6-A278-5C4D-B21A-218C458FF0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beamer</Template>
  <TotalTime>541</TotalTime>
  <Words>1642</Words>
  <Application>Microsoft Office PowerPoint</Application>
  <PresentationFormat>Widescreen</PresentationFormat>
  <Paragraphs>171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CMU Sans Serif</vt:lpstr>
      <vt:lpstr>CMU Sans Serif Medium</vt:lpstr>
      <vt:lpstr>beamer</vt:lpstr>
      <vt:lpstr>Global Settlement Classification from True-Color Satellite Imagery</vt:lpstr>
      <vt:lpstr>Problem Definition</vt:lpstr>
      <vt:lpstr>Data Collection</vt:lpstr>
      <vt:lpstr>Region Selection</vt:lpstr>
      <vt:lpstr>Satellite Imagery Coverage</vt:lpstr>
      <vt:lpstr>Satellite Imagery Preprocessing</vt:lpstr>
      <vt:lpstr>Ground Truth Preprocessing</vt:lpstr>
      <vt:lpstr>Unsupervised Learning</vt:lpstr>
      <vt:lpstr>Mean Silhouette Score vs. k</vt:lpstr>
      <vt:lpstr>Selected Tiles for k = 3 Clusters</vt:lpstr>
      <vt:lpstr>Shallow Supervised Learning</vt:lpstr>
      <vt:lpstr>Gradient Boosting Evaluation</vt:lpstr>
      <vt:lpstr>Gradient Boosting Top Predictions - Urban</vt:lpstr>
      <vt:lpstr>Gradient Boosting Top Predictions - Rural</vt:lpstr>
      <vt:lpstr>Gradient Boosting Top Predictions - Uninhabited</vt:lpstr>
      <vt:lpstr>Deep Supervised Learning</vt:lpstr>
      <vt:lpstr>ResNet-34 CNN Evaluation</vt:lpstr>
      <vt:lpstr>ResNet-34 CNN Top Predictions - Urban</vt:lpstr>
      <vt:lpstr>ResNet-34 CNN Top Predictions - Rural</vt:lpstr>
      <vt:lpstr>ResNet-34 CNN Top Predictions - Uninhabited</vt:lpstr>
      <vt:lpstr>Supervised Model Metrics Comparison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Nice Title Here</dc:title>
  <dc:creator>Bryngelson, Spencer H.</dc:creator>
  <cp:lastModifiedBy>Zhang, Vincent (usp4pg)</cp:lastModifiedBy>
  <cp:revision>14</cp:revision>
  <dcterms:created xsi:type="dcterms:W3CDTF">2022-05-01T20:51:21Z</dcterms:created>
  <dcterms:modified xsi:type="dcterms:W3CDTF">2026-07-21T01:38:07Z</dcterms:modified>
</cp:coreProperties>
</file>